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7" r:id="rId17"/>
    <p:sldId id="272" r:id="rId18"/>
    <p:sldId id="279" r:id="rId19"/>
    <p:sldId id="273" r:id="rId20"/>
    <p:sldId id="278" r:id="rId21"/>
    <p:sldId id="274" r:id="rId22"/>
    <p:sldId id="275" r:id="rId23"/>
    <p:sldId id="276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7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8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3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7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3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6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0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1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0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5475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27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7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78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97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7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91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708" y="0"/>
            <a:ext cx="7511473" cy="2578005"/>
          </a:xfrm>
        </p:spPr>
        <p:txBody>
          <a:bodyPr>
            <a:noAutofit/>
          </a:bodyPr>
          <a:lstStyle/>
          <a:p>
            <a:r>
              <a:rPr sz="5400" b="1" dirty="0"/>
              <a:t>Student Placement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09" y="3174022"/>
            <a:ext cx="7511472" cy="4041162"/>
          </a:xfrm>
        </p:spPr>
        <p:txBody>
          <a:bodyPr>
            <a:normAutofit/>
          </a:bodyPr>
          <a:lstStyle/>
          <a:p>
            <a:r>
              <a:rPr lang="en-IN" sz="2400" dirty="0"/>
              <a:t>BY - </a:t>
            </a:r>
            <a:r>
              <a:rPr sz="2400" dirty="0"/>
              <a:t>Adersh Mohan Puthiyedath</a:t>
            </a:r>
          </a:p>
          <a:p>
            <a:r>
              <a:rPr sz="2400" dirty="0"/>
              <a:t>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47" y="2459285"/>
            <a:ext cx="7511472" cy="4041162"/>
          </a:xfrm>
        </p:spPr>
        <p:txBody>
          <a:bodyPr>
            <a:normAutofit/>
          </a:bodyPr>
          <a:lstStyle/>
          <a:p>
            <a:r>
              <a:rPr sz="2800" dirty="0"/>
              <a:t>Campus placements depend on multiple academic and demographic factors.</a:t>
            </a:r>
          </a:p>
          <a:p>
            <a:r>
              <a:rPr sz="2800" dirty="0"/>
              <a:t>There is a need for a data-driven system to analyze and predict placement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CC4B6A-D236-406A-5FB9-16D1234CA5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967" y="2384473"/>
            <a:ext cx="85240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historical student placement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factors influencing placement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machine learning models for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insights using Python and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811B1F-B401-C228-A50F-FA1ECBB3B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224" y="2194560"/>
            <a:ext cx="8558783" cy="3910211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66192"/>
            <a:ext cx="6887389" cy="4431323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Dataset: Campus Placement Dataset</a:t>
            </a:r>
            <a:br>
              <a:rPr lang="en-US" sz="3200" dirty="0"/>
            </a:br>
            <a:r>
              <a:rPr lang="en-US" sz="3200" dirty="0"/>
              <a:t>Total Records: 215 students</a:t>
            </a:r>
          </a:p>
          <a:p>
            <a:pPr marL="0" indent="0">
              <a:buNone/>
            </a:pPr>
            <a:r>
              <a:rPr lang="en-US" sz="3200" dirty="0"/>
              <a:t>Key features:</a:t>
            </a:r>
          </a:p>
          <a:p>
            <a:r>
              <a:rPr lang="en-US" sz="3200" dirty="0"/>
              <a:t>Gender</a:t>
            </a:r>
          </a:p>
          <a:p>
            <a:r>
              <a:rPr lang="en-US" sz="3200" dirty="0"/>
              <a:t>SSC, HSC, Degree, MBA percentages</a:t>
            </a:r>
          </a:p>
          <a:p>
            <a:r>
              <a:rPr lang="en-US" sz="3200" dirty="0"/>
              <a:t>Specialization</a:t>
            </a:r>
          </a:p>
          <a:p>
            <a:r>
              <a:rPr lang="en-US" sz="3200" dirty="0"/>
              <a:t>Work Experience</a:t>
            </a:r>
          </a:p>
          <a:p>
            <a:r>
              <a:rPr lang="en-US" sz="3200" dirty="0"/>
              <a:t>Placement Status</a:t>
            </a:r>
          </a:p>
          <a:p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C28C5E-9F69-F50F-6101-204B93399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762" y="2471048"/>
            <a:ext cx="820609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irrelevant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Encoded categorical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target variable into binary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cleaned dataset for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17" y="2169819"/>
            <a:ext cx="6887389" cy="3599316"/>
          </a:xfrm>
        </p:spPr>
        <p:txBody>
          <a:bodyPr/>
          <a:lstStyle/>
          <a:p>
            <a:r>
              <a:rPr dirty="0"/>
              <a:t>Placed: 148</a:t>
            </a:r>
          </a:p>
          <a:p>
            <a:r>
              <a:rPr dirty="0"/>
              <a:t>Not Placed: 67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DB490-5A58-DCDC-76D5-5E834069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08" y="2130649"/>
            <a:ext cx="6257714" cy="4481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592" y="2336873"/>
            <a:ext cx="6887389" cy="359931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EDA was performed to understand patterns and relationships between features and placement outcomes.</a:t>
            </a:r>
          </a:p>
          <a:p>
            <a:pPr marL="0" indent="0">
              <a:buNone/>
            </a:pPr>
            <a:r>
              <a:rPr lang="en-US" sz="2800" dirty="0"/>
              <a:t>Focus areas:</a:t>
            </a:r>
          </a:p>
          <a:p>
            <a:r>
              <a:rPr lang="en-US" sz="2800" dirty="0"/>
              <a:t>Academic performance</a:t>
            </a:r>
          </a:p>
          <a:p>
            <a:r>
              <a:rPr lang="en-US" sz="2800" dirty="0"/>
              <a:t>Gender and specialization</a:t>
            </a:r>
          </a:p>
          <a:p>
            <a:r>
              <a:rPr lang="en-US" sz="2800" dirty="0"/>
              <a:t>Work experience impact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Academic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24" y="2117417"/>
            <a:ext cx="2855976" cy="3599316"/>
          </a:xfrm>
        </p:spPr>
        <p:txBody>
          <a:bodyPr/>
          <a:lstStyle/>
          <a:p>
            <a:r>
              <a:rPr dirty="0"/>
              <a:t>Placed students generally have higher academic scores</a:t>
            </a:r>
          </a:p>
          <a:p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C8499-6CD4-C004-B18E-950F503B5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61" y="2117417"/>
            <a:ext cx="5719515" cy="43809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MBA &amp; Degree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2538983" cy="3599316"/>
          </a:xfrm>
        </p:spPr>
        <p:txBody>
          <a:bodyPr>
            <a:normAutofit/>
          </a:bodyPr>
          <a:lstStyle/>
          <a:p>
            <a:r>
              <a:rPr dirty="0"/>
              <a:t>MBA and Degree percentages show strong correlation with placement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B559C-0359-4334-3239-38FB15AE2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2025924"/>
            <a:ext cx="5585976" cy="44846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Features encoded: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Specialization</a:t>
            </a:r>
          </a:p>
          <a:p>
            <a:r>
              <a:rPr lang="en-US" dirty="0"/>
              <a:t>Work Experience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Numerical features scaled where required for model training.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Models implemented: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Random Forest Classifier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Reason for selection:</a:t>
            </a:r>
          </a:p>
          <a:p>
            <a:r>
              <a:rPr lang="en-US" dirty="0"/>
              <a:t>Logistic Regression for interpretability</a:t>
            </a:r>
          </a:p>
          <a:p>
            <a:r>
              <a:rPr lang="en-US" dirty="0"/>
              <a:t>Random Forest for non-linear feature interactions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25000-1493-3572-F4EA-702043F19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639" y="2797308"/>
            <a:ext cx="524736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split into training and testing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trained using 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Hyperparameters tuned where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Metrics used: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Precision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F1 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metrics help evaluate both correctness and class prediction quality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6887389" cy="4051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Logistic Regression:</a:t>
            </a:r>
          </a:p>
          <a:p>
            <a:r>
              <a:rPr lang="en-US" dirty="0"/>
              <a:t>Accuracy ≈ 86%</a:t>
            </a:r>
          </a:p>
          <a:p>
            <a:r>
              <a:rPr lang="en-US" dirty="0"/>
              <a:t>Best overall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Random Forest:</a:t>
            </a:r>
          </a:p>
          <a:p>
            <a:r>
              <a:rPr lang="en-US" dirty="0"/>
              <a:t>Slightly lower performance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Conclusion: Logistic Regression selected as final model.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C4CA-4759-B01B-4543-285A6625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C57BB-3276-4651-682E-D0BADDA42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267712"/>
            <a:ext cx="8159496" cy="4133088"/>
          </a:xfrm>
        </p:spPr>
      </p:pic>
    </p:spTree>
    <p:extLst>
      <p:ext uri="{BB962C8B-B14F-4D97-AF65-F5344CB8AC3E}">
        <p14:creationId xmlns:p14="http://schemas.microsoft.com/office/powerpoint/2010/main" val="72070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2190569"/>
            <a:ext cx="4733543" cy="35993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Top influencing features:</a:t>
            </a:r>
          </a:p>
          <a:p>
            <a:r>
              <a:rPr lang="en-US" dirty="0"/>
              <a:t>Work Experience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SSC Percentage</a:t>
            </a:r>
          </a:p>
          <a:p>
            <a:r>
              <a:rPr lang="en-US" dirty="0"/>
              <a:t>Degree Percentage</a:t>
            </a:r>
          </a:p>
          <a:p>
            <a:r>
              <a:rPr lang="en-US" dirty="0"/>
              <a:t>Specialization</a:t>
            </a:r>
          </a:p>
          <a:p>
            <a:pPr marL="0" indent="0">
              <a:buNone/>
            </a:pPr>
            <a:r>
              <a:rPr lang="en-US" dirty="0"/>
              <a:t>Insight: Practical exposure and academic consistency strongly impact placement.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520CB-1593-F954-3705-D62E64AF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8" t="654" r="42241" b="-654"/>
          <a:stretch>
            <a:fillRect/>
          </a:stretch>
        </p:blipFill>
        <p:spPr>
          <a:xfrm>
            <a:off x="5172455" y="2328672"/>
            <a:ext cx="3706368" cy="35993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88F7-82F0-C3FC-25FB-53FA53DF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A824-E4C0-7B3D-A254-A63984A5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336872"/>
            <a:ext cx="7464552" cy="39298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Dashboard includes:</a:t>
            </a:r>
          </a:p>
          <a:p>
            <a:r>
              <a:rPr lang="en-US" dirty="0"/>
              <a:t>Total Students, Placed, Not Placed, Placement %</a:t>
            </a:r>
          </a:p>
          <a:p>
            <a:r>
              <a:rPr lang="en-US" dirty="0"/>
              <a:t>Placement Distribution</a:t>
            </a:r>
          </a:p>
          <a:p>
            <a:r>
              <a:rPr lang="en-US" dirty="0"/>
              <a:t>Gender-wise Placement Analysis</a:t>
            </a:r>
          </a:p>
          <a:p>
            <a:r>
              <a:rPr lang="en-US" dirty="0"/>
              <a:t>Academic Performance Comparisons</a:t>
            </a:r>
          </a:p>
          <a:p>
            <a:r>
              <a:rPr lang="en-US" dirty="0"/>
              <a:t>Specialization-wise Placement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819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2816351"/>
            <a:ext cx="917447" cy="3119837"/>
          </a:xfrm>
        </p:spPr>
        <p:txBody>
          <a:bodyPr>
            <a:normAutofit/>
          </a:bodyPr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F82D0-C666-4556-AEF9-0E0F7C68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2112272"/>
            <a:ext cx="8668512" cy="45279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00F8-8679-A3E1-2DE4-ADAAB54E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84B82-7CB7-41E5-7EAF-9EBEAB7EF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145792"/>
            <a:ext cx="8424671" cy="4425696"/>
          </a:xfrm>
        </p:spPr>
      </p:pic>
    </p:spTree>
    <p:extLst>
      <p:ext uri="{BB962C8B-B14F-4D97-AF65-F5344CB8AC3E}">
        <p14:creationId xmlns:p14="http://schemas.microsoft.com/office/powerpoint/2010/main" val="353080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D34A8A-900C-D40C-2F62-A4B2B394ED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638" y="2581865"/>
            <a:ext cx="755165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rate is approximately 69%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with work experience have higher placement chances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and Finance specialization shows better placement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scores strongly correlate with placement success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7306056" cy="3599316"/>
          </a:xfrm>
        </p:spPr>
        <p:txBody>
          <a:bodyPr/>
          <a:lstStyle/>
          <a:p>
            <a:r>
              <a:rPr lang="en-US" dirty="0"/>
              <a:t>The project successfully demonstrates how:</a:t>
            </a:r>
          </a:p>
          <a:p>
            <a:r>
              <a:rPr lang="en-US" dirty="0"/>
              <a:t>Data science techniques can predict placement outcomes</a:t>
            </a:r>
          </a:p>
          <a:p>
            <a:r>
              <a:rPr lang="en-US" dirty="0"/>
              <a:t>Machine learning models assist decision-making</a:t>
            </a:r>
          </a:p>
          <a:p>
            <a:r>
              <a:rPr lang="en-US" dirty="0"/>
              <a:t>Power BI dashboards provide actionable insights</a:t>
            </a:r>
          </a:p>
          <a:p>
            <a:r>
              <a:rPr lang="en-US" dirty="0"/>
              <a:t>The system can support institutions in improving placement strategies.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7C9C05-C329-8F5F-2BEF-A8A75514D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28" y="2305616"/>
            <a:ext cx="677452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real-time student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internship and skill-based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web-based analytics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advanced ensemble or deep learning models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1FA6-7DEC-FDDD-17AE-FC05B25F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0248-FEE7-7606-774B-CD729A456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888" y="3019625"/>
            <a:ext cx="6887389" cy="35993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dirty="0"/>
              <a:t>ANY QUESTIONS???</a:t>
            </a:r>
          </a:p>
        </p:txBody>
      </p:sp>
    </p:spTree>
    <p:extLst>
      <p:ext uri="{BB962C8B-B14F-4D97-AF65-F5344CB8AC3E}">
        <p14:creationId xmlns:p14="http://schemas.microsoft.com/office/powerpoint/2010/main" val="396115578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52</TotalTime>
  <Words>447</Words>
  <Application>Microsoft Office PowerPoint</Application>
  <PresentationFormat>On-screen Show (4:3)</PresentationFormat>
  <Paragraphs>112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Trebuchet MS</vt:lpstr>
      <vt:lpstr>Berlin</vt:lpstr>
      <vt:lpstr>Student Placement Prediction System</vt:lpstr>
      <vt:lpstr>Problem Statement</vt:lpstr>
      <vt:lpstr>Objectives</vt:lpstr>
      <vt:lpstr>Project Workflow</vt:lpstr>
      <vt:lpstr>Dataset Description</vt:lpstr>
      <vt:lpstr>Data Preprocessing</vt:lpstr>
      <vt:lpstr>Target Variable Distribution</vt:lpstr>
      <vt:lpstr>Exploratory Data Analysis</vt:lpstr>
      <vt:lpstr>Academic Performance Analysis</vt:lpstr>
      <vt:lpstr>MBA &amp; Degree Analysis</vt:lpstr>
      <vt:lpstr>Feature Engineering</vt:lpstr>
      <vt:lpstr>Machine Learning Models</vt:lpstr>
      <vt:lpstr>Model Training</vt:lpstr>
      <vt:lpstr>Evaluation Metrics</vt:lpstr>
      <vt:lpstr>Model Performance</vt:lpstr>
      <vt:lpstr>Model Comparison</vt:lpstr>
      <vt:lpstr>Feature Importance</vt:lpstr>
      <vt:lpstr>POWER BI DASHBOARD COMPONENTS</vt:lpstr>
      <vt:lpstr>Power BI Dashboard</vt:lpstr>
      <vt:lpstr>Power BI Dashboard 2</vt:lpstr>
      <vt:lpstr>Dashboard Insights</vt:lpstr>
      <vt:lpstr>Conclusion</vt:lpstr>
      <vt:lpstr>Future Scope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Adersh Mohan Puthiyedath</cp:lastModifiedBy>
  <cp:revision>2</cp:revision>
  <dcterms:created xsi:type="dcterms:W3CDTF">2013-01-27T09:14:16Z</dcterms:created>
  <dcterms:modified xsi:type="dcterms:W3CDTF">2026-01-18T14:02:40Z</dcterms:modified>
  <cp:category/>
</cp:coreProperties>
</file>